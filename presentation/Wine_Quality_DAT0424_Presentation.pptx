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74b9d84f1749d3" /><Relationship Type="http://schemas.openxmlformats.org/officeDocument/2006/relationships/extended-properties" Target="/docProps/app.xml" Id="R57ba175889f243e7" /><Relationship Type="http://schemas.openxmlformats.org/officeDocument/2006/relationships/officeDocument" Target="/ppt/presentation.xml" Id="R6e6fbd809e8c42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d305e5ef744dc"/>
  </p:sldMasterIdLst>
  <p:notesMasterIdLst>
    <p:notesMasterId xmlns:r="http://schemas.openxmlformats.org/officeDocument/2006/relationships" r:id="R4d8c8f1e8b484e4c"/>
  </p:notesMasterIdLst>
  <p:sldIdLst>
    <p:sldId xmlns:r="http://schemas.openxmlformats.org/officeDocument/2006/relationships" id="256" r:id="R296867999b8c49bc"/>
    <p:sldId xmlns:r="http://schemas.openxmlformats.org/officeDocument/2006/relationships" id="257" r:id="R7656c8bce4234322"/>
    <p:sldId xmlns:r="http://schemas.openxmlformats.org/officeDocument/2006/relationships" id="258" r:id="Rd9fca836f25c42f3"/>
    <p:sldId xmlns:r="http://schemas.openxmlformats.org/officeDocument/2006/relationships" id="259" r:id="R9141e04560f641eb"/>
    <p:sldId xmlns:r="http://schemas.openxmlformats.org/officeDocument/2006/relationships" id="260" r:id="R7a53290f535e4f33"/>
    <p:sldId xmlns:r="http://schemas.openxmlformats.org/officeDocument/2006/relationships" id="261" r:id="R1abae85dd6cd4b31"/>
    <p:sldId xmlns:r="http://schemas.openxmlformats.org/officeDocument/2006/relationships" id="262" r:id="R3fd5293c5c5b435a"/>
    <p:sldId xmlns:r="http://schemas.openxmlformats.org/officeDocument/2006/relationships" id="263" r:id="Rb55620739e99417c"/>
    <p:sldId xmlns:r="http://schemas.openxmlformats.org/officeDocument/2006/relationships" id="264" r:id="R790489cefd304df0"/>
    <p:sldId xmlns:r="http://schemas.openxmlformats.org/officeDocument/2006/relationships" id="265" r:id="R4255bac2c6a4443c"/>
    <p:sldId xmlns:r="http://schemas.openxmlformats.org/officeDocument/2006/relationships" id="266" r:id="R13b94913e43049ed"/>
    <p:sldId xmlns:r="http://schemas.openxmlformats.org/officeDocument/2006/relationships" id="267" r:id="R073d69ebd96547e7"/>
    <p:sldId xmlns:r="http://schemas.openxmlformats.org/officeDocument/2006/relationships" id="268" r:id="Rf83cc612e71c4bf4"/>
    <p:sldId xmlns:r="http://schemas.openxmlformats.org/officeDocument/2006/relationships" id="269" r:id="Re2d469ed52424b6c"/>
    <p:sldId xmlns:r="http://schemas.openxmlformats.org/officeDocument/2006/relationships" id="270" r:id="R14dff44b9eff4a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d305e5ef744dc" /><Relationship Type="http://schemas.openxmlformats.org/officeDocument/2006/relationships/theme" Target="/ppt/theme/theme1.xml" Id="R16c4f1cfc45c4945" /><Relationship Type="http://schemas.openxmlformats.org/officeDocument/2006/relationships/notesMaster" Target="/ppt/notesMasters/notesMaster1.xml" Id="R4d8c8f1e8b484e4c" /><Relationship Type="http://schemas.openxmlformats.org/officeDocument/2006/relationships/presProps" Target="/ppt/presProps.xml" Id="Re38f02c23709401c" /><Relationship Type="http://schemas.openxmlformats.org/officeDocument/2006/relationships/viewProps" Target="/ppt/viewProps.xml" Id="Re5a830dae68f42ee" /><Relationship Type="http://schemas.openxmlformats.org/officeDocument/2006/relationships/tableStyles" Target="/ppt/tableStyles.xml" Id="R24f2fb0f924843bb" /><Relationship Type="http://schemas.openxmlformats.org/officeDocument/2006/relationships/slide" Target="/ppt/slides/slide1.xml" Id="R296867999b8c49bc" /><Relationship Type="http://schemas.openxmlformats.org/officeDocument/2006/relationships/slide" Target="/ppt/slides/slide2.xml" Id="R7656c8bce4234322" /><Relationship Type="http://schemas.openxmlformats.org/officeDocument/2006/relationships/slide" Target="/ppt/slides/slide3.xml" Id="Rd9fca836f25c42f3" /><Relationship Type="http://schemas.openxmlformats.org/officeDocument/2006/relationships/slide" Target="/ppt/slides/slide4.xml" Id="R9141e04560f641eb" /><Relationship Type="http://schemas.openxmlformats.org/officeDocument/2006/relationships/slide" Target="/ppt/slides/slide5.xml" Id="R7a53290f535e4f33" /><Relationship Type="http://schemas.openxmlformats.org/officeDocument/2006/relationships/slide" Target="/ppt/slides/slide6.xml" Id="R1abae85dd6cd4b31" /><Relationship Type="http://schemas.openxmlformats.org/officeDocument/2006/relationships/slide" Target="/ppt/slides/slide7.xml" Id="R3fd5293c5c5b435a" /><Relationship Type="http://schemas.openxmlformats.org/officeDocument/2006/relationships/slide" Target="/ppt/slides/slide8.xml" Id="Rb55620739e99417c" /><Relationship Type="http://schemas.openxmlformats.org/officeDocument/2006/relationships/slide" Target="/ppt/slides/slide9.xml" Id="R790489cefd304df0" /><Relationship Type="http://schemas.openxmlformats.org/officeDocument/2006/relationships/slide" Target="/ppt/slides/slide10.xml" Id="R4255bac2c6a4443c" /><Relationship Type="http://schemas.openxmlformats.org/officeDocument/2006/relationships/slide" Target="/ppt/slides/slide11.xml" Id="R13b94913e43049ed" /><Relationship Type="http://schemas.openxmlformats.org/officeDocument/2006/relationships/slide" Target="/ppt/slides/slide12.xml" Id="R073d69ebd96547e7" /><Relationship Type="http://schemas.openxmlformats.org/officeDocument/2006/relationships/slide" Target="/ppt/slides/slide13.xml" Id="Rf83cc612e71c4bf4" /><Relationship Type="http://schemas.openxmlformats.org/officeDocument/2006/relationships/slide" Target="/ppt/slides/slide14.xml" Id="Re2d469ed52424b6c" /><Relationship Type="http://schemas.openxmlformats.org/officeDocument/2006/relationships/slide" Target="/ppt/slides/slide15.xml" Id="R14dff44b9eff4a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fbaf1d4eb84d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a7d77d26374acf" /><Relationship Type="http://schemas.openxmlformats.org/officeDocument/2006/relationships/notesMaster" Target="/ppt/notesMasters/notesMaster1.xml" Id="R7b694bf328344a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5d8bf0cd0a4da4" /><Relationship Type="http://schemas.openxmlformats.org/officeDocument/2006/relationships/notesMaster" Target="/ppt/notesMasters/notesMaster1.xml" Id="R931b436e081e4f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1f91c6cc4140b9" /><Relationship Type="http://schemas.openxmlformats.org/officeDocument/2006/relationships/notesMaster" Target="/ppt/notesMasters/notesMaster1.xml" Id="Rc14199a5e728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164ae01f64e3b" /><Relationship Type="http://schemas.openxmlformats.org/officeDocument/2006/relationships/notesMaster" Target="/ppt/notesMasters/notesMaster1.xml" Id="R283e2daa96a741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5668342f464080" /><Relationship Type="http://schemas.openxmlformats.org/officeDocument/2006/relationships/notesMaster" Target="/ppt/notesMasters/notesMaster1.xml" Id="R0daff68a85c2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3de0063c8c453e" /><Relationship Type="http://schemas.openxmlformats.org/officeDocument/2006/relationships/notesMaster" Target="/ppt/notesMasters/notesMaster1.xml" Id="Rd6b37c681ad04f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9a3557caf74dc6" /><Relationship Type="http://schemas.openxmlformats.org/officeDocument/2006/relationships/notesMaster" Target="/ppt/notesMasters/notesMaster1.xml" Id="R28f9cec3da634c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a3d726f4246d0" /><Relationship Type="http://schemas.openxmlformats.org/officeDocument/2006/relationships/notesMaster" Target="/ppt/notesMasters/notesMaster1.xml" Id="R2bb15b6386b443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3d858a1f19456b" /><Relationship Type="http://schemas.openxmlformats.org/officeDocument/2006/relationships/notesMaster" Target="/ppt/notesMasters/notesMaster1.xml" Id="R33ea879cb0fd41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adb909f6c14bcd" /><Relationship Type="http://schemas.openxmlformats.org/officeDocument/2006/relationships/notesMaster" Target="/ppt/notesMasters/notesMaster1.xml" Id="Rce5f8ca18da44d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070ed968844f5c" /><Relationship Type="http://schemas.openxmlformats.org/officeDocument/2006/relationships/notesMaster" Target="/ppt/notesMasters/notesMaster1.xml" Id="Rd55898b9bc9841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097a100ad948d3" /><Relationship Type="http://schemas.openxmlformats.org/officeDocument/2006/relationships/notesMaster" Target="/ppt/notesMasters/notesMaster1.xml" Id="R7ad4432613d84b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a7bad8e7064c9e" /><Relationship Type="http://schemas.openxmlformats.org/officeDocument/2006/relationships/notesMaster" Target="/ppt/notesMasters/notesMaster1.xml" Id="R80805beab72c45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00e4e78d944727" /><Relationship Type="http://schemas.openxmlformats.org/officeDocument/2006/relationships/notesMaster" Target="/ppt/notesMasters/notesMaster1.xml" Id="R12b5807975c94d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4dbefc37a44722" /><Relationship Type="http://schemas.openxmlformats.org/officeDocument/2006/relationships/notesMaster" Target="/ppt/notesMasters/notesMaster1.xml" Id="R77a18c25ff10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192ac228245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53ea0f47e745b3" /><Relationship Type="http://schemas.openxmlformats.org/officeDocument/2006/relationships/slideLayout" Target="/ppt/slideLayouts/slideLayout2.xml" Id="Rc4c05262fcc747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05262fcc747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6e1a4aea943ee" /><Relationship Type="http://schemas.openxmlformats.org/officeDocument/2006/relationships/notesSlide" Target="/ppt/notesSlides/notesSlide1.xml" Id="Rfdd052b65ea548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8e5df9e8a74353" /><Relationship Type="http://schemas.openxmlformats.org/officeDocument/2006/relationships/notesSlide" Target="/ppt/notesSlides/notesSlide2.xml" Id="R84a5353166f14e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9bd1a7d594601" /><Relationship Type="http://schemas.openxmlformats.org/officeDocument/2006/relationships/notesSlide" Target="/ppt/notesSlides/notesSlide3.xml" Id="R8e9956d3db4b49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74ef8f74234dd6" /><Relationship Type="http://schemas.openxmlformats.org/officeDocument/2006/relationships/notesSlide" Target="/ppt/notesSlides/notesSlide4.xml" Id="Rce60cad33b734f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40f40d0cbb48c6" /><Relationship Type="http://schemas.openxmlformats.org/officeDocument/2006/relationships/notesSlide" Target="/ppt/notesSlides/notesSlide5.xml" Id="Rac406414be5745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50025d4ec046f1" /><Relationship Type="http://schemas.openxmlformats.org/officeDocument/2006/relationships/notesSlide" Target="/ppt/notesSlides/notesSlide6.xml" Id="R17a8bc6a58bf42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2750691624de5" /><Relationship Type="http://schemas.openxmlformats.org/officeDocument/2006/relationships/image" Target="/ppt/media/image.png" Id="R87fd2b3ecf534389" /><Relationship Type="http://schemas.openxmlformats.org/officeDocument/2006/relationships/notesSlide" Target="/ppt/notesSlides/notesSlide7.xml" Id="R221c1b8b86704a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eb97c482804248" /><Relationship Type="http://schemas.openxmlformats.org/officeDocument/2006/relationships/image" Target="/ppt/media/image2.png" Id="R7ce72e27d479429c" /><Relationship Type="http://schemas.openxmlformats.org/officeDocument/2006/relationships/notesSlide" Target="/ppt/notesSlides/notesSlide8.xml" Id="R15cec47eca284a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954449b79e45d1" /><Relationship Type="http://schemas.openxmlformats.org/officeDocument/2006/relationships/notesSlide" Target="/ppt/notesSlides/notesSlide9.xml" Id="Rf9c4c95c287e41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78ebf5f825445b" /><Relationship Type="http://schemas.openxmlformats.org/officeDocument/2006/relationships/notesSlide" Target="/ppt/notesSlides/notesSlide10.xml" Id="R2badaae349e442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cd2594b4a04746" /><Relationship Type="http://schemas.openxmlformats.org/officeDocument/2006/relationships/notesSlide" Target="/ppt/notesSlides/notesSlide11.xml" Id="Rff425c5932cf4f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1d9a1831dc45c3" /><Relationship Type="http://schemas.openxmlformats.org/officeDocument/2006/relationships/notesSlide" Target="/ppt/notesSlides/notesSlide12.xml" Id="Ra3c7542815174b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27d8d49d9412c" /><Relationship Type="http://schemas.openxmlformats.org/officeDocument/2006/relationships/image" Target="/ppt/media/image3.png" Id="R2d7c261440de4562" /><Relationship Type="http://schemas.openxmlformats.org/officeDocument/2006/relationships/notesSlide" Target="/ppt/notesSlides/notesSlide13.xml" Id="Rc3e339c15d5f4f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51a97328e4980" /><Relationship Type="http://schemas.openxmlformats.org/officeDocument/2006/relationships/image" Target="/ppt/media/image4.png" Id="R67f21c1baf044945" /><Relationship Type="http://schemas.openxmlformats.org/officeDocument/2006/relationships/image" Target="/ppt/media/image5.png" Id="R6ff5924fc5924b8d" /><Relationship Type="http://schemas.openxmlformats.org/officeDocument/2006/relationships/image" Target="/ppt/media/image6.png" Id="R608c20f16726431d" /><Relationship Type="http://schemas.openxmlformats.org/officeDocument/2006/relationships/notesSlide" Target="/ppt/notesSlides/notesSlide14.xml" Id="Raecf67d07fb049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35dd130254baf" /><Relationship Type="http://schemas.openxmlformats.org/officeDocument/2006/relationships/notesSlide" Target="/ppt/notesSlides/notesSlide15.xml" Id="R56886cac37cd4f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6F3E3-D895-4441-86FE-D309CE94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366FB-8E6A-4E61-AF46-7C22C72F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62D69-A4F4-4F07-902E-95DD77D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508D8-E2F4-4535-8888-20BF611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06CE6-92FB-431F-9E7C-E1C483CC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5580B-29CD-4F38-BFCE-9295E958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8D398-0683-4453-922B-A7EB194C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Prediction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B0C09-2632-416C-B9E4-BF05B80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DAT0424 - Achieving a Machine Learning Proof of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FB678-021F-44A6-A026-4DA9090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6191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 ML project using the Wine Quality Dataset.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8CCE-A8FF-417A-8438-2003EA6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Goal: predict quality_group from wine measurements and wine_type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45E1D-DEB9-4F40-9669-F7E07946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1</a:t>
            </a:r>
          </a:p>
        </p:txBody>
      </p:sp>
    </p:spTree>
    <p:extLst>
      <p:ext uri="{BB962C8B-B14F-4D97-AF65-F5344CB8AC3E}">
        <p14:creationId xmlns:p14="http://schemas.microsoft.com/office/powerpoint/2010/main" val="1050334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9BEAC-1061-41FA-9674-90ECB0B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371CB-4622-4D0D-A9D2-C0374159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B5079-9EB4-469F-8B69-A3F490D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WHAT THIS POC TRIES TO 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1D5EF-772D-48BF-9947-AF7B724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Project Context and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4289D-6B34-456A-9FBB-B6322423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19152-4925-44D5-ACDB-F8853D0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Business 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F09C2-A8D8-4F37-A633-F95825AE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Help a producer, distributor, or laboratory quickly estimate the probable quality group of a wine using physicochemical characteristics.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8A64E-B01D-4615-9091-E69DFBEB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56DF6-81F4-482C-9EF6-9A83445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Useful as a first screening before more detailed sensory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6F220-4179-4EEA-B53D-9933235C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86D91-4B7E-43C2-9944-3E9DACB5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output is a quality group, not an exact expert score.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56FD8-61F1-4650-AA93-67520A97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73338-0963-49A4-A948-0A92FD22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This is a first ML proof of concept, not a production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C62D4-3B2A-4EFC-BF0D-FDB66981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33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4022F-81A7-43AA-B3F2-272B9917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POC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8649F-74F2-4BFE-8084-4DB89D2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Clean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B8ACD-87CD-426D-A650-6BCC531D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241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53C54-5B3B-453E-B9F3-D7265397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289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Three 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CF59D-E7C2-4201-A17F-C733764F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Mock-up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6DE33-AE03-45EE-AD74-C1ECE00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2</a:t>
            </a:r>
          </a:p>
        </p:txBody>
      </p:sp>
    </p:spTree>
    <p:extLst>
      <p:ext uri="{BB962C8B-B14F-4D97-AF65-F5344CB8AC3E}">
        <p14:creationId xmlns:p14="http://schemas.microsoft.com/office/powerpoint/2010/main" val="19765426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FDA8A-A200-4944-B0BA-9B170EF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1E0BB-D78E-47E6-81FA-D9F461C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2A473-B27D-4648-9248-FB4EB427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FILES AND BASIC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4A09E-BAC6-4CF5-9560-98A407AF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Dataset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328E4-CF9C-4152-AE55-A257532E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0E6FF-3C4B-4AD4-912A-2953780F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EBDDE-8758-4E2C-A5C0-4761E58A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1990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A26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A263A"/>
                </a:solidFill>
                <a:latin typeface="Aptos Display"/>
                <a:ea typeface="Aptos Display"/>
                <a:cs typeface="Aptos Display"/>
              </a:rPr>
              <a:t>1,599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5F5EE-F0F0-4636-BF10-55097216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990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 wine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CD3F4-F861-41EF-97C5-82674C56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24000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BF84-97AA-4880-9D53-A19C06F0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76400"/>
            <a:ext cx="1990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B2E5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B2E59"/>
                </a:solidFill>
                <a:latin typeface="Aptos Display"/>
                <a:ea typeface="Aptos Display"/>
                <a:cs typeface="Aptos Display"/>
              </a:rPr>
              <a:t>4,898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013DF-C8BD-4C15-87C9-73EB6ED4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1990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white wine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DF31D-0088-4FCE-9999-D85B532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06A37-C1A5-40C3-93AE-2048906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1990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7C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07C5C"/>
                </a:solidFill>
                <a:latin typeface="Aptos Display"/>
                <a:ea typeface="Aptos Display"/>
                <a:cs typeface="Aptos Display"/>
              </a:rPr>
              <a:t>6,497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62396-6C2E-430F-9F62-475EEE56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1990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total rows after merging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82FBA-7BE1-4351-BE60-0DC2B7EB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75DEB-8B49-4A40-83C6-1A4169E0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764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147F7-9054-48EF-9D68-78E2BD2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missing values detected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EF752-24F5-40F7-A8BB-D9AA940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592A-511A-4FFD-B7F1-DD928EFA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Source files: winequality-red.csv and winequality-white.csv.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A3E78-3BD3-4FC6-8F16-F19B3BDD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87853-4F31-4C51-9E01-F884ADDA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6237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data is structured and tabular, with one row per wine sample.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9F9E7-D137-4F69-9504-7CE6EA19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0C0BA-1890-4C36-B7E3-D4F18037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 time variables were found, so no date-time feature engineering was needed.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C501C-6416-4AAD-B5F1-47D91E05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D655A-0347-416E-9111-B38F5BB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winequality.names documents the variables and dataset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834AAC-780A-4ADA-8CF1-AF947A9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3</a:t>
            </a:r>
          </a:p>
        </p:txBody>
      </p:sp>
    </p:spTree>
    <p:extLst>
      <p:ext uri="{BB962C8B-B14F-4D97-AF65-F5344CB8AC3E}">
        <p14:creationId xmlns:p14="http://schemas.microsoft.com/office/powerpoint/2010/main" val="10223267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2DFC9-1210-4DF2-B5E4-01B34283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C70DB-6BE9-4205-A22D-23AF257A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808C-C67C-41C0-8A05-8E772EA9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WHAT THE MODEL SEES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5383B-DC9B-48B9-AC10-F4E79570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Inputs and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A2597-4762-4BE9-AB10-E170E5F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F7361-0396-49E3-B26E-80A2E49E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76257-4446-46E0-A21A-0316DD5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Input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2943E-62B8-4E3B-85FD-06E1F0D2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57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44620-782C-4685-BA31-E4497C0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fixed acidity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DE7F7-EBE5-4BE8-961D-F014605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67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5AEED-BEA9-467F-831E-07874D2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volatile acidity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32E48-EB84-450F-80B9-A90E34DC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C2736-4158-40AF-ADFC-939ECCE2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040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citric acid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781A3-DA89-4B8C-82BD-780B1D6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86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A2AB9-323C-473E-88E4-46E139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residual sugar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77F22-0793-4E53-ACDD-CF2D545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AF578-A2B8-4A9F-B6DD-793113F5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95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chlorides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B3A89-9F2F-40AB-ACC2-9A132BB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05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3152A-58EA-4160-BD38-524DCE7F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free sulfur dioxide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BA596-1D5B-4B30-8211-6CDB0508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76A47-06AB-47F9-BD7D-BC1CC7ED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812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total sulfur dioxide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2582F-450E-4E4A-BE41-0BC9D14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67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EFF73-A911-4F05-96AB-B64F179F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90825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density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C2167-47FF-4FCF-8F99-4BC45C55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76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E670E-07C0-4B1A-9365-268E5A12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0040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ACF94-0BC2-439B-B925-E893E0B5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86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B7B58-73AD-46CA-98A4-B0EEC2B2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09975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sulphates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36039A-A17A-4AF5-9CE7-EDA777C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95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09FE6-E988-4870-A2CF-AE4B0902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195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alcohol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A268CF-736B-4B9D-8AC0-5523F456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05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BB439-0145-494B-BECE-0119F32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29125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wine_type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C8DD4-04E9-4691-8A16-EF4B93C8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B37AED-AC56-462D-8793-7C44D0CD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526316-D550-47E9-8EFC-D8C14D2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670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quality_group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48B363-F568-4AC2-B933-2F902F14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2714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Classes: low quality, medium quality, high quality.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F1E2EE-FF08-41D3-B3A8-CC9FEC8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3387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quality is not used as an input feature to avoid leakage.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E0A185-98F9-47EE-A0D9-06A7F0F9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4</a:t>
            </a:r>
          </a:p>
        </p:txBody>
      </p:sp>
    </p:spTree>
    <p:extLst>
      <p:ext uri="{BB962C8B-B14F-4D97-AF65-F5344CB8AC3E}">
        <p14:creationId xmlns:p14="http://schemas.microsoft.com/office/powerpoint/2010/main" val="4476284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C8037-584F-4B82-B18E-473B0F8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A07C4-E671-4CC1-9172-A53EFC67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D9306-97AF-474F-8E32-FA2A327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FROM QUALITY SCORE TO CLASSIFICATION GROUPS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7040D-2A22-4F02-9AB6-367F332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Target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FC7D-A621-4A49-A353-18B3D81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DED93-3C3A-49A2-A8D5-7DA933D6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Original target: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73769-938B-4790-A98A-6F3F9F7A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514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Engineered target: quality_group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D59E3-97C9-4872-A5B0-BE1117A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98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ED5C-A00E-40A9-AD6A-BC1E5F22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622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low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AC53C-38A1-4F7D-9EE4-C37DDF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622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quality &lt;=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8CC5E-8AD8-4AC8-86FC-3F94708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528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2"/>
          </a:solidFill>
          <a:ln xmlns:a="http://schemas.openxmlformats.org/drawingml/2006/main" w="9525">
            <a:solidFill>
              <a:srgbClr val="4B2E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AFE37-C866-405C-8C57-1FE9DA30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052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2E5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B2E59"/>
                </a:solidFill>
                <a:latin typeface="Aptos"/>
                <a:ea typeface="Aptos"/>
                <a:cs typeface="Aptos"/>
              </a:rPr>
              <a:t>medium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E05E6-B277-4F0A-B056-F0F16740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052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quality ==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CEA57-02EA-427A-9797-81641E67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957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507C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D93E1-134C-47BE-AE9C-A1BAF2FB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481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high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C6A48-8DE9-49A3-BEB1-85DB28E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481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quality &gt;=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7B657-46F3-4525-9366-E8BFCFB9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35AEF-4510-4BDC-8A7F-2302410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3362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Why classification?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59AAF-AF49-435D-B7E4-471389C9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original score is useful, but grouping it into three classes makes the first POC easier to explain and defend in a student presentation.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5F747-0825-4D13-8111-7091A022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5</a:t>
            </a:r>
          </a:p>
        </p:txBody>
      </p:sp>
    </p:spTree>
    <p:extLst>
      <p:ext uri="{BB962C8B-B14F-4D97-AF65-F5344CB8AC3E}">
        <p14:creationId xmlns:p14="http://schemas.microsoft.com/office/powerpoint/2010/main" val="16546202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7D048A-D907-4D40-BCCC-F03D285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38ECD-DAE8-4DF8-BA9E-F59CB7E8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C2DA5-6CAD-4E6A-994A-89F0E1D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HOW THE GRAPHS SUPPORT THE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4809D-B87A-4E8F-B859-B2F204DA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Role of the Visualizations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3AB8D-C818-4AC7-87B9-79E3EDFB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19A6D-D5C0-42C9-BF9C-A662C82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5CDE7-4B3E-49A8-B58E-47A353C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145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Original quality 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A6DF7-B295-4CC0-AC56-6A8AE366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0037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Shows how the raw quality scores are spread before target engineering.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C0B59-C654-4457-B4AE-B93BA91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6A329-D625-41A2-9A4F-62DB063C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145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Quality group distribution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82CEB-33B9-4AE3-91A9-5B19BA1D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0037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Shows the final classes used for classification and their imbalance.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076AF-3C66-4EAE-86C3-FDD996E2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507C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56533-45DD-47EF-A64C-C0A5466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145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Model performance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8390D-4CBB-47EF-BC3A-5FD02347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0037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Shows which of the three models performs best using macro F1-score.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76625-9D0E-4A46-94BA-AA0DE6E1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Together, these visuals explain the data, the engineered target, and the model choice without adding unnecessary graphs.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9C2FE-CD27-44A6-B5A7-36DFAFAD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6</a:t>
            </a:r>
          </a:p>
        </p:txBody>
      </p:sp>
    </p:spTree>
    <p:extLst>
      <p:ext uri="{BB962C8B-B14F-4D97-AF65-F5344CB8AC3E}">
        <p14:creationId xmlns:p14="http://schemas.microsoft.com/office/powerpoint/2010/main" val="20987865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1DDFCD-2212-43E6-B2E4-D6FBE1EC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C3746-7E0A-4F3D-BEA9-E0839823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E39D8-977F-4635-8538-E99F9E70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RAW DATA BEFORE TARGET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C95F1-BF28-484A-87F9-25B4CF91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Graph 1 - Original Quality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8238F-AE7E-49AF-951F-46773AD9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d2b3ecf534389"/>
          <a:stretch xmlns:a="http://schemas.openxmlformats.org/drawingml/2006/main"/>
        </p:blipFill>
        <p:spPr>
          <a:xfrm xmlns:a="http://schemas.openxmlformats.org/drawingml/2006/main">
            <a:off x="742950" y="1452563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BCB0C-A21C-4C92-BB96-F1D6D471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5737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3E1BB-58DE-4162-9FFB-0D33A0D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What it shows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4FAC8-473B-41B4-B365-574B27D7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Most wines are around middle quality scores. Very low and very high scores are rare.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D4012-59EB-4995-BCF9-A723096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FBA97-5148-42F4-BC70-C8BD028E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It helps justify simplifying the task into three quality groups.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AF62C-ECA0-4A1B-9EE5-CD363EF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7</a:t>
            </a:r>
          </a:p>
        </p:txBody>
      </p:sp>
    </p:spTree>
    <p:extLst>
      <p:ext uri="{BB962C8B-B14F-4D97-AF65-F5344CB8AC3E}">
        <p14:creationId xmlns:p14="http://schemas.microsoft.com/office/powerpoint/2010/main" val="5999489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A62F2-365B-4744-8FB2-2F22C4F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5A140-4F54-4DE8-A7F6-C57819C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7747D-1662-43F9-9A45-6F269CCE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CLASS DISTRIBUTION AFTER FEATURE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E5FD4-0917-4054-81B2-24BA30B4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Graph 2 - Final Classification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C3498-4387-45EC-B8A4-65F6911C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72e27d479429c"/>
          <a:stretch xmlns:a="http://schemas.openxmlformats.org/drawingml/2006/main"/>
        </p:blipFill>
        <p:spPr>
          <a:xfrm xmlns:a="http://schemas.openxmlformats.org/drawingml/2006/main">
            <a:off x="742950" y="1452563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8CDF9-5984-4356-BBC2-19A91B02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5737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AD77B-C247-481F-808C-85A5FF2A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What it shows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C44DF-5D03-4693-B672-4318F665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final classes low, medium, and high are not perfectly balanced.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7F90B-6671-4A5D-8E0B-ED4C573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47047-64F3-4D92-BECC-20E6C39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This supports using macro F1-score instead of relying only on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0230C-75EC-4743-8404-4C0E469C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8</a:t>
            </a:r>
          </a:p>
        </p:txBody>
      </p:sp>
    </p:spTree>
    <p:extLst>
      <p:ext uri="{BB962C8B-B14F-4D97-AF65-F5344CB8AC3E}">
        <p14:creationId xmlns:p14="http://schemas.microsoft.com/office/powerpoint/2010/main" val="15500746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264AD0-CEAB-4AAC-8BEA-1538171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05BE9-1357-4488-AC7D-5680FD1D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342CB-6F46-4E02-9454-F51D7B4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SIMPLE PREPROCESSING WITH LEAKAGE PREVENTION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EC73C-BC9B-4513-9270-7782B45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Feature Engineering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C8209-8E82-449F-A273-9183B2E1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B4949-C470-4206-BD62-A545B213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A1F62-E663-413B-9508-29DD7CF6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BDEF3-6783-408B-B294-72761BAC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Add wine_type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9C74B-7FB0-497D-BAA1-F616C45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0525A-4965-448F-AEC3-EC5F6D03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CE927-402E-4E63-8F7F-3C95951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04975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4CCCF-F9E7-4259-AE17-9032EA5C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Merge red and white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9A092-9679-450E-9B9B-7B192C3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074C9-2694-4090-AE0B-D0C80C8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97DE6-3E2F-4BA6-ABBD-3942418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04975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0FD9E-38E8-4A91-AF35-DFA8F49D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Create quality_group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2EE2B-707C-4957-B5C6-55F2E020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75B07-1535-4BDE-94F1-D2DC8D77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240A0-2A14-4649-B5ED-3D341EE3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04975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06DE8-FE6C-43A6-B2FF-9E42FA0D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Split train/test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F61DB-41E7-4518-9A2E-8A18334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2926E-5955-41D0-81A7-0104CF04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9A25D-5B64-48C1-8ECE-969BBB9E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Median imputation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89C06-88BC-4C01-A3E4-7375833D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433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D4065-479A-4CDB-8FD1-F4D47621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88A01-7321-476F-ADF7-FF2C9D21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9221C-E603-4F3F-AB66-2A02CFC0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2432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Standardization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4E65BE-8FB7-4274-9001-8DECA2C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433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049C7-7502-487F-B82C-2A83185C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9BCCD-CC81-44C3-8990-457F0F6F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A523CA-7FD7-4D93-81A7-2D20C592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2432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One-hot wine_type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F5CEB6-154C-4EF7-A4B6-A94B985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A0ABAD-45C1-4248-87A0-92FE828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02A3C-8FF5-4C72-AE3A-3F2072E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A7B685-FF16-4CD0-B4FA-D5E8700E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4325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Remove target columns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88B03E-CD97-4D1F-BF4C-EDF12B66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The train/test split is done before preprocessing, and preprocessing is fitted only on the training data.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A2D1E5-23B4-4908-813F-799781E9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9</a:t>
            </a:r>
          </a:p>
        </p:txBody>
      </p:sp>
    </p:spTree>
    <p:extLst>
      <p:ext uri="{BB962C8B-B14F-4D97-AF65-F5344CB8AC3E}">
        <p14:creationId xmlns:p14="http://schemas.microsoft.com/office/powerpoint/2010/main" val="8763329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2BA22-A25C-4FC5-9939-84E698C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6C5EF-BB2C-4DF0-B46E-541733F2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957F2-4D9A-4FED-9304-9343F80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KEEPING THE MODEL COMPARISON FAIR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8A570-2C61-4129-8F36-A71634AA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Evaluation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EA983-0C46-41E3-8BAD-507DAD63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34B44-F8B0-4856-93EE-2BBE3FE2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EB0DB-A492-4BE9-A5E5-AA2BD5C8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573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Same setup for all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8AD64-A0A5-4898-9BA9-7B96A45B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5B116-770F-45CC-A586-6A570F58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Same engineered dataset.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C3D93-E3E6-497A-A2C9-EE7315F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0A0A7-A6AA-4E09-9642-21D3BD4D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Same train/test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38E55-E487-4248-B156-7207A5C6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A2DBB-4C1B-4F25-BC58-0F10F8C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Same target: quality_group.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E9350-BB84-4717-B553-1D1541A1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B1944-63F0-4AA1-A44D-D544E3A6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Same final test set and same metrics.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969EF-6BF0-41C9-875F-BC51574F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000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3C879-97E3-4596-B1EE-57572D6E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57375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Leakage prevention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18241-692B-4527-B7D0-5567AEBB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C8FF2-3277-422C-978C-126C5805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quality is removed from input features.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7EFD2-A553-4F50-8697-878314CA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245CF-FA37-4EAF-AEDD-2EFFCB91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quality_group is the target only.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52701-9CB0-4DD1-AA70-5D576DFA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18140-6653-405C-9FC9-5208CFF6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Preprocessing is fitted only on X_train.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66674-750B-4547-95C3-23D2A153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10</a:t>
            </a:r>
          </a:p>
        </p:txBody>
      </p:sp>
    </p:spTree>
    <p:extLst>
      <p:ext uri="{BB962C8B-B14F-4D97-AF65-F5344CB8AC3E}">
        <p14:creationId xmlns:p14="http://schemas.microsoft.com/office/powerpoint/2010/main" val="11587016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8DD71D-E836-4297-87F7-095F96C9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BA48A-A704-420C-B950-92904A54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20888-5773-4352-B58D-28A4E4B7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THREE SIMPLE MODEL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05A4E-61FE-4FA5-81FB-24CFF49F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Models Compared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C5209-FDA8-4D86-BB3A-412D9DD6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8B94B-2DCC-4363-BE77-644E714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3143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69EBD-5A26-4052-975D-601A2A20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431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9476F-363D-497C-A139-67F97647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622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FD985-6A18-4BDF-8BCB-6864D5D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337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Fast, understandable, and useful as a reference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A1514-97F9-4AE9-AAA2-C576A862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507C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4CE35-3C9B-4632-A963-C46F3AB5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431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EA985-7B1D-4719-A636-0662BA91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622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Flexible non-linear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C922E-9E41-415F-B3AB-A3538B45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Can capture interactions between physicochemical variables.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5924D-1445-484A-A010-2D0C8EB2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3143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2"/>
          </a:solidFill>
          <a:ln xmlns:a="http://schemas.openxmlformats.org/drawingml/2006/main" w="9525">
            <a:solidFill>
              <a:srgbClr val="4B2E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92608-65E7-4EBB-BDFC-2977FEB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431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2E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2E59"/>
                </a:solidFill>
                <a:latin typeface="Aptos"/>
                <a:ea typeface="Aptos"/>
                <a:cs typeface="Aptos"/>
              </a:rPr>
              <a:t>SVM 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32F28-F5DF-4D1E-9FB3-04C94696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622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Margin-based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2BC38-90E5-47B1-B204-80656FFA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Uses standardized features and gives a different comparison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34471-9FA3-4D74-9FEF-D4F4C05D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No heavy tuning was used because the goal is a first student proof of concept.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801D8-A297-4B01-9426-8172C36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11</a:t>
            </a:r>
          </a:p>
        </p:txBody>
      </p:sp>
    </p:spTree>
    <p:extLst>
      <p:ext uri="{BB962C8B-B14F-4D97-AF65-F5344CB8AC3E}">
        <p14:creationId xmlns:p14="http://schemas.microsoft.com/office/powerpoint/2010/main" val="9339506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A91394-66D8-4A94-86A9-D46CB7EA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C683A-229C-4D15-93F8-A6250B2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ECB31-DC7C-4103-B698-F4C19237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WHY MACRO F1-SCORE IS THE MAIN 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983B9-33DC-4B54-9C6D-B350EB7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Metrics Used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3CC17-FD6E-47A3-A0C3-EE6C783E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B21D3-76AE-4402-9E17-66E621B4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286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BC73A-F057-4D79-8647-C5A75DF3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00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Main 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7756C-E013-4F6F-B527-48C2CF19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macro F1-score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0893C-CE49-4322-B50A-6CBA164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Macro F1 gives each class more balanced importance, which is useful because the classes are not perfectly balanced.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57A84-2AA1-4666-B626-C86D65F9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55A4E-03BC-4498-8DEE-1F392D80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Secondary 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7A16A-76DB-4D28-9FCC-436E5B7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9D161-D2F4-400C-8D85-FC06FDC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16C86-4D2E-4EA3-95B6-17996B7A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75362-4399-4E48-9065-DBA0CE81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precision_macro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98727-AB6C-42B7-B783-0B5A960D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23233-CDB0-42ED-AAD2-C7D020E9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recall_macro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EF47B-118F-4D2D-A4DB-15228768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Accuracy is still useful, but it can hide weak results on minority classes.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273B6-D651-412E-B7EE-357BFA57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12</a:t>
            </a:r>
          </a:p>
        </p:txBody>
      </p:sp>
    </p:spTree>
    <p:extLst>
      <p:ext uri="{BB962C8B-B14F-4D97-AF65-F5344CB8AC3E}">
        <p14:creationId xmlns:p14="http://schemas.microsoft.com/office/powerpoint/2010/main" val="1831106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17698F-70EC-41C5-94D1-2CB9B0F0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D59F2-A4EF-4364-8DF1-6AA4D64B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24622-97CC-4323-B186-BAD6DCDD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FIRST POC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657B9-4E26-4C7A-AE8A-FE871F92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Model Results and Performance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69141-1D3D-4BBB-8C4E-860586BF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c261440de4562"/>
          <a:stretch xmlns:a="http://schemas.openxmlformats.org/drawingml/2006/main"/>
        </p:blipFill>
        <p:spPr>
          <a:xfrm xmlns:a="http://schemas.openxmlformats.org/drawingml/2006/main">
            <a:off x="666750" y="1518047"/>
            <a:ext cx="5810250" cy="363140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7CB45-A013-4540-B7BE-580EACB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333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8E52F-91CB-4585-AEFA-F3B700D2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711F9-51B8-44C8-A41D-A791F707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76CCF-802F-41C1-86DC-3E2392AF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6212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1776E-E52F-407F-B820-21A70E8D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6212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0DC08-4FCF-4C6C-B927-AD18606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6212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195E3-ECC8-4700-95FA-A0321775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75F0A-854E-46E8-8BF6-3AD82E3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86DDF-4805-4AAB-BFA4-8A3A3DD8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38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0.585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85A67-73EC-40DD-B581-70A814D9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38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0F184-FFEA-44B1-AC59-9F2DDC2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38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D5214-1E77-478A-A47E-B18F77E8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86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BA01A-53F3-4AEF-8935-68538FF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2696E-3041-4299-9BBD-673C1A1B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622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2F11A-266C-4AE8-9405-67BDCCC1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0.748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8F2CA-D3AB-4D22-B32B-FE8D635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28E33-F81B-415E-A2CD-BB93569B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622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CE3446-0FB9-4A4B-9FAA-9FC8683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SVM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EF4F9-EF98-4204-8581-10CA984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0.627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2BD4C-7663-48E9-9123-AB94574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861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0.637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610EB-41C9-4A41-9380-3BCBB058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861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0.576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DFB760-0507-452A-B340-FD0592EE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861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12FA5-963B-400C-B751-E5A1DAFC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96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Random Forest performed best in this first comparison with macro F1 = 0.726.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FAD6E-67BD-42E7-9B07-07728ABB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86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is not a final production model.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C8BDA-5133-417B-9D42-D9572A7A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13</a:t>
            </a:r>
          </a:p>
        </p:txBody>
      </p:sp>
    </p:spTree>
    <p:extLst>
      <p:ext uri="{BB962C8B-B14F-4D97-AF65-F5344CB8AC3E}">
        <p14:creationId xmlns:p14="http://schemas.microsoft.com/office/powerpoint/2010/main" val="14946372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B10A2-C648-4503-9AE8-1DC80AF2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763C9-CDA3-454B-9EBE-54309F39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4D6EE-05DB-470C-9783-A0261343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FUTURE INTERFACE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E2699-F2CE-4D1D-B594-067E62F2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Streamlit Mock-up and Dashboard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F4C2F-1E3B-456F-93BF-5053F6AF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21c1baf044945"/>
          <a:stretch xmlns:a="http://schemas.openxmlformats.org/drawingml/2006/main"/>
        </p:blipFill>
        <p:spPr>
          <a:xfrm xmlns:a="http://schemas.openxmlformats.org/drawingml/2006/main">
            <a:off x="738868" y="1428750"/>
            <a:ext cx="2808514" cy="2047875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5924fc5924b8d"/>
          <a:stretch xmlns:a="http://schemas.openxmlformats.org/drawingml/2006/main"/>
        </p:blipFill>
        <p:spPr>
          <a:xfrm xmlns:a="http://schemas.openxmlformats.org/drawingml/2006/main">
            <a:off x="3977368" y="1428750"/>
            <a:ext cx="2808514" cy="204787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c20f16726431d"/>
          <a:stretch xmlns:a="http://schemas.openxmlformats.org/drawingml/2006/main"/>
        </p:blipFill>
        <p:spPr>
          <a:xfrm xmlns:a="http://schemas.openxmlformats.org/drawingml/2006/main">
            <a:off x="7215868" y="1428750"/>
            <a:ext cx="2808514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EAEBF-E27B-4954-B563-54522C44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9334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EE061-B769-46F9-A6E9-8D822F91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User journey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DF0E5-81DB-42F5-92CB-9EFA3AE9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866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1. Open the app  -&gt;  2. Read the objective  -&gt;  3. Enter wine characteristics  -&gt;  4. See a mocked prediction  -&gt;  5. View model story and performance  -&gt;  6. Future version connects the trained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3138D-3BE8-4EC7-8FBD-E3625F5D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14</a:t>
            </a:r>
          </a:p>
        </p:txBody>
      </p:sp>
    </p:spTree>
    <p:extLst>
      <p:ext uri="{BB962C8B-B14F-4D97-AF65-F5344CB8AC3E}">
        <p14:creationId xmlns:p14="http://schemas.microsoft.com/office/powerpoint/2010/main" val="7019379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D283A-53D8-4215-85D7-17E276F7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C7CC5-6460-490D-8B55-BAF8627C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68925-BA5C-4BC8-9F95-25B60BFA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WHAT REMAINS AFTER THIS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034B0-D462-4EF5-9BFF-382DF9FA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Limitations, Next Steps, and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A3158-CBCB-4AFC-8470-2E77C9C3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FEA2B-B6C0-44DD-89B3-88E1257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86125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A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B9D2C-A9EB-485E-AE88-CF8BC1E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A3E3A-D2D6-4263-99A6-11166FF0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88DFC-B250-4F8E-9EA2-4D4D3F9A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Model is not final.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F2BEB-DD39-420E-A198-3D1E5757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80E9F-9875-4435-912D-3E1E228F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Tuning is limited.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7632E-C425-42CB-B230-80F9E127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05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D8CB9-905D-419E-B528-BB2AF81B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289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Wine quality is partly subjective.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1D385-2D01-42EA-AE67-A375139B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5FBD5-E72E-40BB-A086-C714CE02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No region, price, grape variety, vintage, or brand.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A3DC8-B9C0-432A-861A-2BA44585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0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2C0A0-D159-4647-85CD-7B7B4C0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Streamlit is not connected to a real backend yet.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DCC0F-32F0-4047-8D8B-3DBF3CF5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190875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C"/>
          </a:solidFill>
          <a:ln xmlns:a="http://schemas.openxmlformats.org/drawingml/2006/main" w="9525">
            <a:solidFill>
              <a:srgbClr val="507C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A6588-DA76-489F-B1EE-E3C6609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7C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07C5C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A4C5F-C421-41A7-B481-C442AA0A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09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B608C-E987-4518-A982-D306AF19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Connect final preprocessing.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62ED0-0950-4094-A6AB-C6984EF0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85A9F-B1E6-4124-B2BB-F614A31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Load the selected trained 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DC20ED-AF22-4BC6-9925-34CDD19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05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E136E-F32D-4B71-A1A3-D540C809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2897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Replace mocked prediction with real prediction.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9896F-9732-42C4-BC29-00263480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62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8F787-6FAE-4955-A4D7-D08D4A12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862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Test the app with new examples.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D860B-555D-4DF6-9EE8-1E55516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10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67C9B3-54CF-4B97-AE41-77904733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3387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Improve validation and possibly tune the best model.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17FAB9-C387-435C-9DBD-A1F5F1B5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1432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EC"/>
          </a:solidFill>
          <a:ln xmlns:a="http://schemas.openxmlformats.org/drawingml/2006/main" w="9525">
            <a:solidFill>
              <a:srgbClr val="7A26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26728A-B85C-4997-B036-5CFAAD32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514D9F-953B-446A-8707-3346F3E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This project built a complete student ML POC: data preparation, visual analysis, three-model comparison, and a Streamlit mock-up.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7E08E-7CB3-44DF-98C4-76306F98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26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263A"/>
                </a:solidFill>
                <a:latin typeface="Aptos"/>
                <a:ea typeface="Aptos"/>
                <a:cs typeface="Aptos"/>
              </a:rPr>
              <a:t>GitHub repository link: [to be added by the student]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EC793-EE89-4533-8B08-5EA2C86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DAT0424 Wine Quality POC | 15</a:t>
            </a:r>
          </a:p>
        </p:txBody>
      </p:sp>
    </p:spTree>
    <p:extLst>
      <p:ext uri="{BB962C8B-B14F-4D97-AF65-F5344CB8AC3E}">
        <p14:creationId xmlns:p14="http://schemas.microsoft.com/office/powerpoint/2010/main" val="285844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2026-05-19T08:01:21.0820000Z</dcterms:created>
  <dcterms:modified xsi:type="dcterms:W3CDTF">2026-05-19T08:01:21.0820000Z</dcterms:modified>
</coreProperties>
</file>